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SafeTag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Know. Save a Life.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51960" y="3154680"/>
            <a:ext cx="36576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QR + NFC Emergency Identity Tag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· B2B · Manufacturer Platform  ·  SDD v3.0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"14 hours.  No ID.  No way to reach her family."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6-year-old went missing at Kumbh Mela. With one small SafeTag, it would have ended in 7 minutes.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1554480"/>
          </a:xfrm>
          <a:prstGeom prst="rect">
            <a:avLst>
              <a:gd name="adj" fmla="val 4706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5915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missing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in India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51760" cy="1554480"/>
          </a:xfrm>
          <a:prstGeom prst="rect">
            <a:avLst>
              <a:gd name="adj" fmla="val 4706"/>
            </a:avLst>
          </a:prstGeom>
          <a:solidFill>
            <a:srgbClr val="7F1D1D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35915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reunion time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identification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651760" cy="1554480"/>
          </a:xfrm>
          <a:prstGeom prst="rect">
            <a:avLst>
              <a:gd name="adj" fmla="val 4706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35915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needed to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SafeTag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2194560"/>
            <a:ext cx="2651760" cy="1554480"/>
          </a:xfrm>
          <a:prstGeom prst="rect">
            <a:avLst>
              <a:gd name="adj" fmla="val 4706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235915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3544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profile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crisis happens to elderly with dementia, accident victims, solo trekkers, and lost pets.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SafeTag is built to end it — in under 3 seconds.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SafeTag — One Tag. Two Technologies. Zero Apps.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212080" cy="4480560"/>
          </a:xfrm>
          <a:prstGeom prst="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QR 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Any phone camera — point and scan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on Android + iPhone + feature phones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2841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Opens in under 3 seconds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8678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login for the rescuer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451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Printable on any surface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41848" y="3246120"/>
            <a:ext cx="91440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641848" y="3291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92240" y="1234440"/>
            <a:ext cx="5212080" cy="4480560"/>
          </a:xfrm>
          <a:prstGeom prst="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RFID / NFC Chip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Tap phone near tag — no camera needed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67004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in darkness or when QR is scratched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32841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Water resistant — works in rain or floods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98678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at any angle, through wallets &amp; bags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6451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iPhone 7+ and most Android phones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943600"/>
            <a:ext cx="11247120" cy="594360"/>
          </a:xfrm>
          <a:prstGeom prst="rect">
            <a:avLst>
              <a:gd name="adj" fmla="val 9231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998464"/>
            <a:ext cx="10972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PROTECTION — Either technology alone is enough. Both together mean there is no failure mode.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Steps. No App Required. Works for Anyone.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" y="132588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788920" cy="2926080"/>
          </a:xfrm>
          <a:prstGeom prst="rect">
            <a:avLst>
              <a:gd name="adj" fmla="val 327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6888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Attach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29718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 keychain, sticker,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wristband, or ID card.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bag, lanyard,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ID badge.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81528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50208" y="132588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950208" y="137160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64408" y="2331720"/>
            <a:ext cx="2788920" cy="2926080"/>
          </a:xfrm>
          <a:prstGeom prst="rect">
            <a:avLst>
              <a:gd name="adj" fmla="val 327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46888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4136" y="29718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QR, fill in name,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group, emergency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allergies.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2 minutes.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25896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94576" y="132588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137160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08776" y="2331720"/>
            <a:ext cx="2788920" cy="2926080"/>
          </a:xfrm>
          <a:prstGeom prst="rect">
            <a:avLst>
              <a:gd name="adj" fmla="val 327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246888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Tap NFC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18504" y="29718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scans the QR or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the NFC chip with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phone. No app.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for rescuer.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70264" y="2743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838944" y="132588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9838944" y="137160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153144" y="2331720"/>
            <a:ext cx="2788920" cy="2926080"/>
          </a:xfrm>
          <a:prstGeom prst="rect">
            <a:avLst>
              <a:gd name="adj" fmla="val 327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53144" y="246888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Reunion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62872" y="29718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opens in 3 sec.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 directly.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gets a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alert.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Tags — Every Lifestyle, Every Budget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88920" cy="4572000"/>
          </a:xfrm>
          <a:prstGeom prst="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🔖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on helmet, wallet,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bottle, school bag.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resistant.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01568" y="1417320"/>
            <a:ext cx="2788920" cy="4572000"/>
          </a:xfrm>
          <a:prstGeom prst="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55448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01568" y="25603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01568" y="30175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01568" y="34930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38728" y="384048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keys, bags,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stroller, lanyard.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ABS plastic.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45936" y="1417320"/>
            <a:ext cx="2788920" cy="4572000"/>
          </a:xfrm>
          <a:prstGeom prst="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55448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45936" y="25603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45936" y="30175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45936" y="34930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384048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Silicone, waterproof.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children, elderly,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athletes.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90304" y="1417320"/>
            <a:ext cx="2788920" cy="4572000"/>
          </a:xfrm>
          <a:prstGeom prst="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0304" y="155448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9290304" y="25603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ID Card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90304" y="30175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₹399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90304" y="34930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27464" y="384048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card format.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hospitals,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ID badges.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an Emergency ID Tag?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could be separated from the people who love them — child, elder, traveler, or pet.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👧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at fairs, stations, temples.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12,400+ children missing/month in India.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87452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57800" y="1874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patients, seniors with no phone.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calls family in seconds.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7452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🧳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5440" y="1874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44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trips, Kumbh Mela, pilgrimages.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language barrier — anyone can help.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8620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🐕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80160" y="3886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dogs and cats.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calls owner directly — no app.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79476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88620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🚴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257800" y="3886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Cyclists, trekkers, marathon runners.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medical info ready for paramedics.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379476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88620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235440" y="3886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3544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ID badges for school trips.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identified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Pillars — B2C + B2B + Manufacturer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475488"/>
          </a:xfrm>
          <a:prstGeom prst="rect">
            <a:avLst>
              <a:gd name="adj" fmla="val 1153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B2C Direct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3657600" cy="4663440"/>
          </a:xfrm>
          <a:prstGeom prst="rect">
            <a:avLst>
              <a:gd name="adj" fmla="val 1500"/>
            </a:avLst>
          </a:prstGeom>
          <a:solidFill>
            <a:srgbClr val="0F1F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 buys via online store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Price: ₹149 – ₹499/unit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1129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Razorpay + Cash on Delivery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6110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shipping above ₹499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01091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 + NFC activation included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417320"/>
            <a:ext cx="3657600" cy="475488"/>
          </a:xfrm>
          <a:prstGeom prst="rect">
            <a:avLst>
              <a:gd name="adj" fmla="val 11538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B2B Institutional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1892808"/>
            <a:ext cx="3657600" cy="4663440"/>
          </a:xfrm>
          <a:prstGeom prst="rect">
            <a:avLst>
              <a:gd name="adj" fmla="val 1500"/>
            </a:avLst>
          </a:prstGeom>
          <a:solidFill>
            <a:srgbClr val="0F1F3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11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Schools, hospitals, corporates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276148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Bulk: 50 – 10,000 units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351129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 pricing + SLA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26110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batch + custom branding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501091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 annual renewal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3657600" cy="475488"/>
          </a:xfrm>
          <a:prstGeom prst="rect">
            <a:avLst>
              <a:gd name="adj" fmla="val 11538"/>
            </a:avLst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Manufacturer Platform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1892808"/>
            <a:ext cx="3657600" cy="4663440"/>
          </a:xfrm>
          <a:prstGeom prst="rect">
            <a:avLst>
              <a:gd name="adj" fmla="val 1500"/>
            </a:avLst>
          </a:prstGeom>
          <a:solidFill>
            <a:srgbClr val="0F1F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2011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Factories list products on store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276148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provide tag IDs + QR + NFC 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51129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share per sale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26110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Activation analytics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501091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inventory for SafeTag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Healthy Margins Across All Segments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65176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155448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141732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463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160020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228600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Potential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26517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892808"/>
            <a:ext cx="25420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 (B2C)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1828800"/>
            <a:ext cx="1554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1892808"/>
            <a:ext cx="144475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828800"/>
            <a:ext cx="14173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1892808"/>
            <a:ext cx="13075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1828800"/>
            <a:ext cx="1600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52744" y="1892808"/>
            <a:ext cx="14904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1828800"/>
            <a:ext cx="2286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2944" y="1892808"/>
            <a:ext cx="21762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/ yr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340864"/>
            <a:ext cx="265176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404872"/>
            <a:ext cx="25420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 (B2C)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2340864"/>
            <a:ext cx="155448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80944" y="2404872"/>
            <a:ext cx="144475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2340864"/>
            <a:ext cx="141732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2404872"/>
            <a:ext cx="13075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97880" y="2340864"/>
            <a:ext cx="160020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52744" y="2404872"/>
            <a:ext cx="14904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2340864"/>
            <a:ext cx="228600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2404872"/>
            <a:ext cx="21762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/ yr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852928"/>
            <a:ext cx="26517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916936"/>
            <a:ext cx="25420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 (B2C)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2852928"/>
            <a:ext cx="1554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80944" y="2916936"/>
            <a:ext cx="144475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2852928"/>
            <a:ext cx="14173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2916936"/>
            <a:ext cx="13075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2852928"/>
            <a:ext cx="1600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52744" y="2916936"/>
            <a:ext cx="14904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98080" y="2852928"/>
            <a:ext cx="2286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52944" y="2916936"/>
            <a:ext cx="21762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/ yr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364992"/>
            <a:ext cx="265176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429000"/>
            <a:ext cx="25420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Bulk (B2B)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3364992"/>
            <a:ext cx="155448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80944" y="3429000"/>
            <a:ext cx="144475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 / u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80560" y="3364992"/>
            <a:ext cx="141732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35424" y="3429000"/>
            <a:ext cx="13075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97880" y="3364992"/>
            <a:ext cx="160020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52744" y="3429000"/>
            <a:ext cx="14904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98080" y="3364992"/>
            <a:ext cx="228600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3429000"/>
            <a:ext cx="21762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1,00,000+ / yr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3877056"/>
            <a:ext cx="26517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941064"/>
            <a:ext cx="25420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Bulk (B2B)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926080" y="3877056"/>
            <a:ext cx="15544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80944" y="3941064"/>
            <a:ext cx="144475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/ u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80560" y="3877056"/>
            <a:ext cx="14173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35424" y="3941064"/>
            <a:ext cx="13075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897880" y="3877056"/>
            <a:ext cx="16002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52744" y="3941064"/>
            <a:ext cx="14904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498080" y="3877056"/>
            <a:ext cx="2286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52944" y="3941064"/>
            <a:ext cx="21762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/ yr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4389120"/>
            <a:ext cx="265176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4453128"/>
            <a:ext cx="25420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Fee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926080" y="4389120"/>
            <a:ext cx="155448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80944" y="4453128"/>
            <a:ext cx="144475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rev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480560" y="4389120"/>
            <a:ext cx="141732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35424" y="4453128"/>
            <a:ext cx="13075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897880" y="4389120"/>
            <a:ext cx="160020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52744" y="4453128"/>
            <a:ext cx="14904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SaaS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498080" y="4389120"/>
            <a:ext cx="2286000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52944" y="4453128"/>
            <a:ext cx="21762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GMV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74320" y="5029200"/>
            <a:ext cx="11338560" cy="594360"/>
          </a:xfrm>
          <a:prstGeom prst="rect">
            <a:avLst>
              <a:gd name="adj" fmla="val 10769"/>
            </a:avLst>
          </a:prstGeom>
          <a:solidFill>
            <a:srgbClr val="0A2342"/>
          </a:solidFill>
          <a:ln/>
        </p:spPr>
      </p:sp>
      <p:sp>
        <p:nvSpPr>
          <p:cNvPr id="76" name="Text 74"/>
          <p:cNvSpPr/>
          <p:nvPr/>
        </p:nvSpPr>
        <p:spPr>
          <a:xfrm>
            <a:off x="457200" y="5084064"/>
            <a:ext cx="11155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ARR — Year 1: ₹60 L   ·   Year 2: ₹2.5 Cr   ·   Year 3: ₹8 Cr+   ·   Break-even: Month 14–18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Emergency Safety Market — Largely Untapped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Cr+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&amp;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 families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travelers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544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owners 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India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1247120" cy="640080"/>
          </a:xfrm>
          <a:prstGeom prst="rect">
            <a:avLst>
              <a:gd name="adj" fmla="val 10000"/>
            </a:avLst>
          </a:prstGeom>
          <a:solidFill>
            <a:srgbClr val="0F1F3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1012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TAM  ~₹12,000 Cr       SAM  ~₹1,800 Cr (digital-aware urban India)       SOM  ~₹250 Cr (Year 3 target)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established national competitor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QR + NFC dual-tech emergency ID for India.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ICE tags lack Hindi support, NFC backup, and local distribution networks.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First-mover advantage in India's ₹12,000 Cr personal safety market.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SafeTag Wins — 6 Structural Advantages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QR + NFC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offers both. NFC works when QR fails — the only truly no-failure emergency tag in India.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60020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57800" y="1600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App Friction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Rescuer needs nothing installed. Camera or NFC tap. Maximum adoption — anyone can help.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50876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0020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35440" y="1600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3544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UI, Razorpay + COD, Indian address format, WhatsApp alerts, local manufacturer network.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1188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3611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Supply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023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manufacturing. Any Indian factory can list and ship — we own the platform, not the inventory.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52044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61188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257800" y="3611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Activation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4023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scans tag → fills profile → tag live in 2 minutes. No factory pre-programming delay.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3520440"/>
            <a:ext cx="3749040" cy="1691640"/>
          </a:xfrm>
          <a:prstGeom prst="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61188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35440" y="3611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35440" y="4023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accessible via physical tag scan — not searchable on the internet. No data sold. Ever.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Three-Channel Distribution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475488"/>
          </a:xfrm>
          <a:prstGeom prst="rect">
            <a:avLst>
              <a:gd name="adj" fmla="val 1153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Online Direct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3657600" cy="4663440"/>
          </a:xfrm>
          <a:prstGeom prst="rect">
            <a:avLst>
              <a:gd name="adj" fmla="val 1500"/>
            </a:avLst>
          </a:prstGeom>
          <a:solidFill>
            <a:srgbClr val="0F1F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safe-tag.in — SEO + Paid 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Instagram, Facebook, YouTube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1129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Shopping for tags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6110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Parenting &amp; travel influencers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01091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 removes payment barrier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417320"/>
            <a:ext cx="3657600" cy="475488"/>
          </a:xfrm>
          <a:prstGeom prst="rect">
            <a:avLst>
              <a:gd name="adj" fmla="val 11538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Institutional B2B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1892808"/>
            <a:ext cx="3657600" cy="4663440"/>
          </a:xfrm>
          <a:prstGeom prst="rect">
            <a:avLst>
              <a:gd name="adj" fmla="val 1500"/>
            </a:avLst>
          </a:prstGeom>
          <a:solidFill>
            <a:srgbClr val="0F1F3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11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Schools: safety ID for trips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276148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Hospitals: patient wristbands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351129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Corporate ID badge add-on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26110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NGOs for child safety programs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501091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Govt ICDS Anganwadi (LT)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3657600" cy="475488"/>
          </a:xfrm>
          <a:prstGeom prst="rect">
            <a:avLst>
              <a:gd name="adj" fmla="val 11538"/>
            </a:avLst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Manufacturer Channel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1892808"/>
            <a:ext cx="3657600" cy="4663440"/>
          </a:xfrm>
          <a:prstGeom prst="rect">
            <a:avLst>
              <a:gd name="adj" fmla="val 1500"/>
            </a:avLst>
          </a:prstGeom>
          <a:solidFill>
            <a:srgbClr val="0F1F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2011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Indian factory can list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276148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provide IDs + QR + NFC 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511296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Factory makes &amp; ships direct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261104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share — zero CapEx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501091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10,000-tag batches, instant CSV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Built. Community Growing. Reunions Happening.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Page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1417320"/>
            <a:ext cx="2651760" cy="1554480"/>
          </a:xfrm>
          <a:prstGeom prst="rect">
            <a:avLst>
              <a:gd name="adj" fmla="val 4706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158191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544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customer stories: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1247120" cy="621792"/>
          </a:xfrm>
          <a:prstGeom prst="rect">
            <a:avLst>
              <a:gd name="adj" fmla="val 882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03904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""My son Arjun went missing at Pushkar Mela. A kind stranger called me within 7 minutes." — Rekha M., Jaipur · Child tag"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453128"/>
            <a:ext cx="11247120" cy="621792"/>
          </a:xfrm>
          <a:prstGeom prst="rect">
            <a:avLst>
              <a:gd name="adj" fmla="val 882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07992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""My mother has dementia. She walked out 3 times last year. Each time a neighbour scanned her SafeTag." — Suresh V., Chennai · Elderly tag"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157216"/>
            <a:ext cx="11247120" cy="621792"/>
          </a:xfrm>
          <a:prstGeom prst="rect">
            <a:avLst>
              <a:gd name="adj" fmla="val 882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212080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""A local farmer found me on a Himachal trek, scanned my keychain, reached my contact. No language barrier." — Ananya K., Mumbai · Traveler tag"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Full-Stack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07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325880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417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 4 — single-process, zero microservices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92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837944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9293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v5 · SQLite (dev) · PostgreSQL (production)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04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2350008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4414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Server-Side Rendering · Tailwind CSS · Dark Mode (flash-free)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62072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169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2862072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29535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 · bcryptjs · CSRF token on every state-changing form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74136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374136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465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npm · PNG download · batch CSV export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410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/ RFID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08960" y="3886200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9776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NDEF URL record · pre-programmed at manufacture time · iPhone 7+ &amp; Android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98264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53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4398264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44897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(UPI, card, netbanking) + Cash on Delivery — no payment barrier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10328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965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08960" y="4910328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50017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geolocation alert + Nodemailer email triggered on emergency scan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422392"/>
            <a:ext cx="2651760" cy="4572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4772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08960" y="5422392"/>
            <a:ext cx="8595360" cy="457200"/>
          </a:xfrm>
          <a:prstGeom prst="rect">
            <a:avLst/>
          </a:prstGeom>
          <a:solidFill>
            <a:srgbClr val="091D30"/>
          </a:solidFill>
          <a:ln/>
        </p:spPr>
      </p:sp>
      <p:sp>
        <p:nvSpPr>
          <p:cNvPr id="40" name="Text 38"/>
          <p:cNvSpPr/>
          <p:nvPr/>
        </p:nvSpPr>
        <p:spPr>
          <a:xfrm>
            <a:off x="3246120" y="55138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· PostgreSQL · ENV-driven config · &lt; 30 s cold start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Phased Growth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822960"/>
          </a:xfrm>
          <a:prstGeom prst="rect">
            <a:avLst>
              <a:gd name="adj" fmla="val 8889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Month 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9572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Launch online store &amp; SEO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4495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0896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 10 manufacturers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2219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Instagram + influencer marketing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47141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53542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5,000 tags / month target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184648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24865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School pilot: 3 cities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0" y="1417320"/>
            <a:ext cx="3657600" cy="822960"/>
          </a:xfrm>
          <a:prstGeom prst="rect">
            <a:avLst>
              <a:gd name="adj" fmla="val 8889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4630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— 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331720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39572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B2B school &amp; hospital pitch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304495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10896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Business API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89120" y="3758184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82219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Hindi UI full parity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89120" y="447141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53542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Bulk order portal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89120" y="5184648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524865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25,000 tags / month target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321040" y="1417320"/>
            <a:ext cx="3657600" cy="822960"/>
          </a:xfrm>
          <a:prstGeom prst="rect">
            <a:avLst>
              <a:gd name="adj" fmla="val 8889"/>
            </a:avLst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14630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2104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 — 18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21040" y="2331720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239572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Pan-India distribution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321040" y="304495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310896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Govt &amp; NGO partnerships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21040" y="3758184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58200" y="382219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Offline retail pilot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321040" y="447141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453542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IoT / GPS tag variant R&amp;D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321040" y="5184648"/>
            <a:ext cx="365760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58200" y="524865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Series A preparation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68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SafeTag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Know. Save a Life.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51960" y="2788920"/>
            <a:ext cx="36576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protect every Indian family — together.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safe-tag.in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315968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support@safe-tag.in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0" y="4983480"/>
            <a:ext cx="5788152" cy="594360"/>
          </a:xfrm>
          <a:prstGeom prst="rect">
            <a:avLst>
              <a:gd name="adj" fmla="val 10769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5029200"/>
            <a:ext cx="5788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Buy Now — from ₹149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Made in India  ·  SDD v3.0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SafeTag India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SafeTag — Business Presentation</dc:title>
  <dc:subject>PptxGenJS Presentation</dc:subject>
  <dc:creator>SafeTag</dc:creator>
  <cp:lastModifiedBy>SafeTag</cp:lastModifiedBy>
  <cp:revision>1</cp:revision>
  <dcterms:created xsi:type="dcterms:W3CDTF">2026-05-23T13:25:53Z</dcterms:created>
  <dcterms:modified xsi:type="dcterms:W3CDTF">2026-05-23T13:25:53Z</dcterms:modified>
</cp:coreProperties>
</file>